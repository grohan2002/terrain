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0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Systems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Showcase  — 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520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Multi-Format Infrastructure-as-Code Modernization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Bicep or AWS CloudFormation  →  Production Terraform — Compliant &amp; Secure from Day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Systems International  |  Infrastructure as Code, Reimagined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729984"/>
            <a:ext cx="11430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rsystems.com  |  All rights reserved. Confidential.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— Chart your infrastructure across every cloud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is an AI-powered multi-agent platform that converts Azure Bicep and AWS CloudFormation templates into production Terraform/OpenTofu in minutes. Two specialised conversion pipelines, live provider-schema lookups via HashiCorp and Microsoft MCP servers, and built-in policy, security and cost signals — with an Azure deployment agent that can provision and smoke-test on Day 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794760" cy="1691640"/>
          </a:xfrm>
          <a:prstGeom prst="rect">
            <a:avLst>
              <a:gd name="adj" fmla="val 3243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274320" cy="36576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786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992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Bicep (AzureRM) and CloudFormation (AWS) source formats. Separate parsers, system prompts and resource maps per language — no cross-contamination.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794760" cy="1691640"/>
          </a:xfrm>
          <a:prstGeom prst="rect">
            <a:avLst>
              <a:gd name="adj" fmla="val 3243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468880"/>
            <a:ext cx="274320" cy="36576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786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Provider Schemas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9992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Terraform MCP + Microsoft Azure MCP servers feed real-time provider schemas and Azure API data to the agent. No reliance on stale training data.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2286000"/>
            <a:ext cx="3794760" cy="1691640"/>
          </a:xfrm>
          <a:prstGeom prst="rect">
            <a:avLst>
              <a:gd name="adj" fmla="val 3243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2468880"/>
            <a:ext cx="274320" cy="36576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5786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In-Line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9992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Policy Agent, Trivy and Infracost run on every conversion. Security findings, policy violations and monthly cost appear before the HCL leaves the browser.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3794760" cy="1691640"/>
          </a:xfrm>
          <a:prstGeom prst="rect">
            <a:avLst>
              <a:gd name="adj" fmla="val 3243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297680"/>
            <a:ext cx="274320" cy="36576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074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Deploy &amp; Test Agent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8280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Claude agent runs terraform plan / apply against Azure, probes live resources, and validates outputs. Surfaces real deployment errors, not speculative ones.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4114800"/>
            <a:ext cx="3794760" cy="1691640"/>
          </a:xfrm>
          <a:prstGeom prst="rect">
            <a:avLst>
              <a:gd name="adj" fmla="val 3243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4297680"/>
            <a:ext cx="274320" cy="36576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4074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Projects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48280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 for Bicep modules and CloudFormation nested stacks. Dependency graph + topological conversion preserves structure and cross-stack parameters.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21040" y="4114800"/>
            <a:ext cx="3794760" cy="1691640"/>
          </a:xfrm>
          <a:prstGeom prst="rect">
            <a:avLst>
              <a:gd name="adj" fmla="val 3243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4297680"/>
            <a:ext cx="274320" cy="36576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4074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Governance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03920" y="48280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(Viewer / Converter / Deployer / Admin), per-conversion cost tracking, full audit log of every agent action — ready for SOC 2 evidence packs.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729984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rsystems.com  |  All rights reserved. Confidential.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30000" y="67299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— Two-Agent Pipeline with MCP Enrichment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240280" cy="411480"/>
          </a:xfrm>
          <a:prstGeom prst="rect">
            <a:avLst>
              <a:gd name="adj" fmla="val 8889"/>
            </a:avLst>
          </a:prstGeom>
          <a:solidFill>
            <a:srgbClr val="11054C"/>
          </a:solidFill>
          <a:ln w="12700">
            <a:solidFill>
              <a:srgbClr val="1105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240280" cy="2240280"/>
          </a:xfrm>
          <a:prstGeom prst="rect">
            <a:avLst>
              <a:gd name="adj" fmla="val 1633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(.bicep / .bicepparam)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YAML / JSON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scan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project upload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28900" y="15179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2240280" cy="411480"/>
          </a:xfrm>
          <a:prstGeom prst="rect">
            <a:avLst>
              <a:gd name="adj" fmla="val 8889"/>
            </a:avLst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1874520"/>
            <a:ext cx="2240280" cy="2240280"/>
          </a:xfrm>
          <a:prstGeom prst="rect">
            <a:avLst>
              <a:gd name="adj" fmla="val 1633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011680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Agent  → azurerm_*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Agent → aws_*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 / Haiku 4.5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Dependency-graph aware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06340" y="15179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212080" y="1463040"/>
            <a:ext cx="2240280" cy="411480"/>
          </a:xfrm>
          <a:prstGeom prst="rect">
            <a:avLst>
              <a:gd name="adj" fmla="val 8889"/>
            </a:avLst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1874520"/>
            <a:ext cx="2240280" cy="2240280"/>
          </a:xfrm>
          <a:prstGeom prst="rect">
            <a:avLst>
              <a:gd name="adj" fmla="val 1633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2011680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Terraform MCP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MCP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provider schemas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Registry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83780" y="15179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9520" y="1463040"/>
            <a:ext cx="2240280" cy="411480"/>
          </a:xfrm>
          <a:prstGeom prst="rect">
            <a:avLst>
              <a:gd name="adj" fmla="val 8889"/>
            </a:avLst>
          </a:prstGeom>
          <a:solidFill>
            <a:srgbClr val="FE5F54"/>
          </a:solidFill>
          <a:ln w="12700">
            <a:solidFill>
              <a:srgbClr val="FE5F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1874520"/>
            <a:ext cx="2240280" cy="2240280"/>
          </a:xfrm>
          <a:prstGeom prst="rect">
            <a:avLst>
              <a:gd name="adj" fmla="val 1633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011680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fmt + tofu validate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policy scan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security scan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Infracost monthly cost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61220" y="15179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966960" y="1463040"/>
            <a:ext cx="2240280" cy="411480"/>
          </a:xfrm>
          <a:prstGeom prst="rect">
            <a:avLst>
              <a:gd name="adj" fmla="val 8889"/>
            </a:avLst>
          </a:prstGeom>
          <a:solidFill>
            <a:srgbClr val="1A1B6F"/>
          </a:solidFill>
          <a:ln w="12700">
            <a:solidFill>
              <a:srgbClr val="1A1B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 (Day 1)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966960" y="1874520"/>
            <a:ext cx="2240280" cy="2240280"/>
          </a:xfrm>
          <a:prstGeom prst="rect">
            <a:avLst>
              <a:gd name="adj" fmla="val 1633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0" y="2011680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Agent (Azure)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plan / apply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existence probe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+ audit log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11247120" cy="777240"/>
          </a:xfrm>
          <a:prstGeom prst="rect">
            <a:avLst>
              <a:gd name="adj" fmla="val 7059"/>
            </a:avLst>
          </a:prstGeom>
          <a:solidFill>
            <a:srgbClr val="E8EAEF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3708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parsers → dedicated agent per format → live MCP schema enrichment → inline policy/security/cost validation → Day-1 Azure deploy + smoke tests. Every stage streams events over SSE; full audit log per run.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11247120" cy="1097280"/>
          </a:xfrm>
          <a:prstGeom prst="rect">
            <a:avLst>
              <a:gd name="adj" fmla="val 5000"/>
            </a:avLst>
          </a:prstGeom>
          <a:solidFill>
            <a:srgbClr val="11054C"/>
          </a:solidFill>
          <a:ln w="12700">
            <a:solidFill>
              <a:srgbClr val="1105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321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B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56235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 ·  React 19  ·  Anthropic Claude SDK  ·  Model Context Protocol  ·  OpenTofu / Terraform 1.14+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" y="59253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  ·  Trivy  ·  OPA  ·  Infracost  ·  PostgreSQL  ·  Docker Compose  ·  Claude Sonnet 4  ·  Claude Haiku 4.5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729984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rsystems.com  |  All rights reserved. Confidential.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430000" y="67299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ACCELERATORS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Accelerators &amp; Differentiators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88920" cy="2103120"/>
          </a:xfrm>
          <a:prstGeom prst="rect">
            <a:avLst>
              <a:gd name="adj" fmla="val 2609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Weeks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Bicep or CF template → production Terraform in under 5 minutes. What took architects 1–2 weeks now completes over coffee.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788920" cy="2103120"/>
          </a:xfrm>
          <a:prstGeom prst="rect">
            <a:avLst>
              <a:gd name="adj" fmla="val 2609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20440" y="2057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Languages, One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4688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parallel pipelines for Azure Bicep (azurerm_*) and AWS CloudFormation (aws_*). One UI, one audit trail, one toggle.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788920" cy="2103120"/>
          </a:xfrm>
          <a:prstGeom prst="rect">
            <a:avLst>
              <a:gd name="adj" fmla="val 2609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2057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Native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modules and CloudFormation nested stacks both convert as dependency-aware projects — not naive single-file dumps.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98280" y="1280160"/>
            <a:ext cx="2788920" cy="2103120"/>
          </a:xfrm>
          <a:prstGeom prst="rect">
            <a:avLst>
              <a:gd name="adj" fmla="val 2609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281160" y="2057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MCP Schemas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81160" y="24688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Terraform MCP + Microsoft Azure MCP give the agent real-time provider data. Current aws_* and azurerm_* schemas every run.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2788920" cy="2103120"/>
          </a:xfrm>
          <a:prstGeom prst="rect">
            <a:avLst>
              <a:gd name="adj" fmla="val 2609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Security-by-Default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709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+ OPA + Infracost run in-pipeline. Every conversion returns security findings, policy violations and monthly cost — no bolt-on scans.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3520440"/>
            <a:ext cx="2788920" cy="2103120"/>
          </a:xfrm>
          <a:prstGeom prst="rect">
            <a:avLst>
              <a:gd name="adj" fmla="val 2609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52044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Smoke-Test Agent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4709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agent runs tofu plan / apply in an isolated Azure RG and probes the deployed resources. Real Day-1 proof, not projections.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520440"/>
            <a:ext cx="2788920" cy="2103120"/>
          </a:xfrm>
          <a:prstGeom prst="rect">
            <a:avLst>
              <a:gd name="adj" fmla="val 2609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40080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Scan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4709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any public or private repo. Auto-discovers .bicep / .bicepparam or .yaml / .yml / .json / .template and loads the full project in one click.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98280" y="3520440"/>
            <a:ext cx="2788920" cy="2103120"/>
          </a:xfrm>
          <a:prstGeom prst="rect">
            <a:avLst>
              <a:gd name="adj" fmla="val 2609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928116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Governance-Grade Audit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81160" y="4709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RBAC, per-conversion token/cost tracking, full audit log. Ready to drop into SOC 2 and ISO 27001 evidence packs.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729984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rsystems.com  |  All rights reserved. Confidential.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430000" y="67299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0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 — Day 1 &amp; Day 2 Outcomes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240280" cy="1371600"/>
          </a:xfrm>
          <a:prstGeom prst="rect">
            <a:avLst>
              <a:gd name="adj" fmla="val 4000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240280" cy="91440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Hand-Authoring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1280160"/>
            <a:ext cx="2240280" cy="1371600"/>
          </a:xfrm>
          <a:prstGeom prst="rect">
            <a:avLst>
              <a:gd name="adj" fmla="val 4000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280160"/>
            <a:ext cx="2240280" cy="91440"/>
          </a:xfrm>
          <a:prstGeom prst="rect">
            <a:avLst/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417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B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926080" y="2103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Formats Today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(Bicep + CF)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280160"/>
            <a:ext cx="2240280" cy="1371600"/>
          </a:xfrm>
          <a:prstGeom prst="rect">
            <a:avLst>
              <a:gd name="adj" fmla="val 4000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1280160"/>
            <a:ext cx="2240280" cy="91440"/>
          </a:xfrm>
          <a:prstGeom prst="rect">
            <a:avLst/>
          </a:prstGeom>
          <a:solidFill>
            <a:srgbClr val="FE5F54"/>
          </a:solidFill>
          <a:ln w="12700">
            <a:solidFill>
              <a:srgbClr val="FE5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417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E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257800" y="2103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52360" y="1280160"/>
            <a:ext cx="2240280" cy="1371600"/>
          </a:xfrm>
          <a:prstGeom prst="rect">
            <a:avLst>
              <a:gd name="adj" fmla="val 4000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1280160"/>
            <a:ext cx="2240280" cy="91440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417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2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589520" y="2103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(Bicep / CF / Deploy)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84080" y="1280160"/>
            <a:ext cx="2240280" cy="1371600"/>
          </a:xfrm>
          <a:prstGeom prst="rect">
            <a:avLst>
              <a:gd name="adj" fmla="val 4000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84080" y="1280160"/>
            <a:ext cx="2240280" cy="91440"/>
          </a:xfrm>
          <a:prstGeom prst="rect">
            <a:avLst/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1417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B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921240" y="2103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Runs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(RBAC + Log)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5577840" cy="411480"/>
          </a:xfrm>
          <a:prstGeom prst="rect">
            <a:avLst>
              <a:gd name="adj" fmla="val 8889"/>
            </a:avLst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926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Terrain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5577840" cy="2148840"/>
          </a:xfrm>
          <a:prstGeom prst="rect">
            <a:avLst>
              <a:gd name="adj" fmla="val 1702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29000"/>
            <a:ext cx="5212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Hand-authoring Terraform took 1–2 weeks per workload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Engineers copy-pasted stale modules with no policy check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Cost estimates came from month-old spreadsheets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Security scans ran 3 weeks after the infra was live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CloudFormation → Terraform done by trial and error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Deployment errors found at 2 AM, not in review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2926080"/>
            <a:ext cx="5577840" cy="411480"/>
          </a:xfrm>
          <a:prstGeom prst="rect">
            <a:avLst>
              <a:gd name="adj" fmla="val 8889"/>
            </a:avLst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926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Terrain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337560"/>
            <a:ext cx="5577840" cy="2148840"/>
          </a:xfrm>
          <a:prstGeom prst="rect">
            <a:avLst>
              <a:gd name="adj" fmla="val 1702"/>
            </a:avLst>
          </a:prstGeom>
          <a:solidFill>
            <a:srgbClr val="F5F6F9"/>
          </a:solidFill>
          <a:ln w="12700">
            <a:solidFill>
              <a:srgbClr val="D6D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429000"/>
            <a:ext cx="5212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Production Terraform from a Bicep / CF template in &lt; 5 minutes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Every run audited against OPA policies in-pipeline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Infracost returns live monthly estimates per resource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Trivy + OPA scans ship alongside the generated HCL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Dedicated CloudFormation agent with AWS-aware prompts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Deploy agent runs plan + apply + smoke tests on Day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760720"/>
            <a:ext cx="11247120" cy="685800"/>
          </a:xfrm>
          <a:prstGeom prst="rect">
            <a:avLst>
              <a:gd name="adj" fmla="val 8000"/>
            </a:avLst>
          </a:prstGeom>
          <a:solidFill>
            <a:srgbClr val="11054C"/>
          </a:solidFill>
          <a:ln w="12700">
            <a:solidFill>
              <a:srgbClr val="1105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7607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a drag-and-drop upload to validated, policy-checked Terraform — in under five minutes, for both Azure and AWS source formats.”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729984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rsystems.com  |  All rights reserved. Confidential.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430000" y="67299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25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0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B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&amp; DAY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Ready  ·  Day 2 Resilient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77840" cy="502920"/>
          </a:xfrm>
          <a:prstGeom prst="rect">
            <a:avLst>
              <a:gd name="adj" fmla="val 7273"/>
            </a:avLst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READY  —  SHIP COMPLIANT INFRASTRUCTURE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577840" cy="3886200"/>
          </a:xfrm>
          <a:prstGeom prst="rect">
            <a:avLst>
              <a:gd name="adj" fmla="val 941"/>
            </a:avLst>
          </a:prstGeom>
          <a:solidFill>
            <a:srgbClr val="1A0F5E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91440" cy="548640"/>
          </a:xfrm>
          <a:prstGeom prst="rect">
            <a:avLst/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every run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init + tofu validate run in an isolated working directory; the agent self-corrects up to 3 times.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798064"/>
            <a:ext cx="91440" cy="548640"/>
          </a:xfrm>
          <a:prstGeom prst="rect">
            <a:avLst/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523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baked 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02666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finds misconfigurations; OPA flags policy violations — before the HCL leaves the pipeline.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91440" cy="548640"/>
          </a:xfrm>
          <a:prstGeom prst="rect">
            <a:avLst/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visible upfront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7216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Infracost ships with the Terraform; engineers see monthly spend before any apply.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187952"/>
            <a:ext cx="91440" cy="548640"/>
          </a:xfrm>
          <a:prstGeom prst="rect">
            <a:avLst/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42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deployment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4165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agent runs plan + apply + live resource probes against Azure. Day-1 evidence, not projections.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882896"/>
            <a:ext cx="91440" cy="548640"/>
          </a:xfrm>
          <a:prstGeom prst="rect">
            <a:avLst/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371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for every action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1114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RBAC, per-user audit trail, token + cost tracking — SOC 2 and ISO 27001 ready.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371600"/>
            <a:ext cx="5577840" cy="502920"/>
          </a:xfrm>
          <a:prstGeom prst="rect">
            <a:avLst>
              <a:gd name="adj" fmla="val 7273"/>
            </a:avLst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371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RESILIENT  —  EVOLVE WITHOUT REWRITING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1874520"/>
            <a:ext cx="5577840" cy="3886200"/>
          </a:xfrm>
          <a:prstGeom prst="rect">
            <a:avLst>
              <a:gd name="adj" fmla="val 941"/>
            </a:avLst>
          </a:prstGeom>
          <a:solidFill>
            <a:srgbClr val="1A0F5E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103120"/>
            <a:ext cx="91440" cy="548640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057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history preserved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23317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stored — re-load a past Bicep or CF project and re-convert against updated schemas with one click.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2798064"/>
            <a:ext cx="91440" cy="548640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7523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drift handled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302666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pulls current provider versions per run. New aws_* or azurerm_* args flow in without a tool update.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3493008"/>
            <a:ext cx="91440" cy="548640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dashboard over time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37960" y="37216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token and dollar cost aggregated. Finance can see where the AI spend is going.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4187952"/>
            <a:ext cx="91440" cy="548640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142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Re-runnable multi-file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37960" y="44165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modules and CF nested stacks stay wired as Terraform modules — update one leaf, regenerate just that module.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4882896"/>
            <a:ext cx="91440" cy="548640"/>
          </a:xfrm>
          <a:prstGeom prst="rect">
            <a:avLst/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8371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Kill-switch by env var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537960" y="51114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ENABLE_*_MCP, source-format toggle, deploy-agent gate — degrade to built-in maps anytime without a redeploy.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852160"/>
            <a:ext cx="11247120" cy="548640"/>
          </a:xfrm>
          <a:prstGeom prst="rect">
            <a:avLst>
              <a:gd name="adj" fmla="val 10000"/>
            </a:avLst>
          </a:prstGeom>
          <a:solidFill>
            <a:srgbClr val="4A20F5"/>
          </a:solidFill>
          <a:ln w="12700">
            <a:solidFill>
              <a:srgbClr val="4A20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 —  Bicep &amp; CloudFormation in. Compliant Terraform out. Ready for Day 1 and Day 2.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15BE53"/>
          </a:solidFill>
          <a:ln w="12700">
            <a:solidFill>
              <a:srgbClr val="15BE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729984"/>
            <a:ext cx="10058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rsystems.com  |  All rights reserved. Confidential.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72998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 Systems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Terrain — Customer Showcase 2026</dc:title>
  <dc:subject>AI-Powered Infrastructure Modernization</dc:subject>
  <dc:creator>PptxGenJS</dc:creator>
  <cp:lastModifiedBy>PptxGenJS</cp:lastModifiedBy>
  <cp:revision>1</cp:revision>
  <dcterms:created xsi:type="dcterms:W3CDTF">2026-04-22T10:18:20Z</dcterms:created>
  <dcterms:modified xsi:type="dcterms:W3CDTF">2026-04-22T10:18:20Z</dcterms:modified>
</cp:coreProperties>
</file>